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8800"/>
            <a:ext cx="5486400" cy="5486400"/>
          </a:xfrm>
          <a:prstGeom prst="ellipse">
            <a:avLst/>
          </a:prstGeom>
          <a:solidFill>
            <a:srgbClr val="D4AF37">
              <a:alpha val="7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0"/>
            <a:ext cx="4572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8412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·  2026  ·  CONFIDENTIAL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097280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078992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POTLUCK</a:t>
            </a:r>
            <a:endParaRPr lang="en-US" sz="10000" dirty="0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savings account </a:t>
            </a:r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could make you a millionaire.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 stays safe. Your interest builds the pot. Someone wins big every 90 days.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2633472" cy="118872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03320"/>
            <a:ext cx="2633472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840480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4712" y="3840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24712" y="4206240"/>
            <a:ext cx="1188720" cy="201168"/>
          </a:xfrm>
          <a:prstGeom prst="rect">
            <a:avLst/>
          </a:prstGeom>
          <a:solidFill>
            <a:srgbClr val="22C55E">
              <a:alpha val="2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24712" y="4206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ABSTRACT L2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7512" y="44622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yield → prize draw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383280" y="3703320"/>
            <a:ext cx="2633472" cy="118872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83280" y="3703320"/>
            <a:ext cx="2633472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384048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05072" y="3840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MERIDIAN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005072" y="4206240"/>
            <a:ext cx="1188720" cy="201168"/>
          </a:xfrm>
          <a:prstGeom prst="rect">
            <a:avLst/>
          </a:prstGeom>
          <a:solidFill>
            <a:srgbClr val="8A7020">
              <a:alpha val="28000"/>
            </a:srgbClr>
          </a:solidFill>
          <a:ln w="7620">
            <a:solidFill>
              <a:srgbClr val="8A702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05072" y="4206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547872" y="44622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Ultra-premium metal card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263640" y="3703320"/>
            <a:ext cx="2633472" cy="118872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63640" y="3703320"/>
            <a:ext cx="2633472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840480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85432" y="3840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SUPER-APP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885432" y="4206240"/>
            <a:ext cx="1188720" cy="201168"/>
          </a:xfrm>
          <a:prstGeom prst="rect">
            <a:avLst/>
          </a:prstGeom>
          <a:solidFill>
            <a:srgbClr val="5A5540">
              <a:alpha val="28000"/>
            </a:srgbClr>
          </a:solidFill>
          <a:ln w="7620">
            <a:solidFill>
              <a:srgbClr val="5A554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885432" y="4206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6428232" y="446227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Wealth · Rewards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broken products. Nobody fixed them.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651760" cy="331012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50292" cy="3310128"/>
          </a:xfrm>
          <a:prstGeom prst="rect">
            <a:avLst/>
          </a:prstGeom>
          <a:solidFill>
            <a:srgbClr val="5A5540"/>
          </a:solidFill>
          <a:ln w="12700">
            <a:solidFill>
              <a:srgbClr val="5A55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007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Accounts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" y="2139696"/>
            <a:ext cx="1417320" cy="219456"/>
          </a:xfrm>
          <a:prstGeom prst="rect">
            <a:avLst/>
          </a:prstGeom>
          <a:solidFill>
            <a:srgbClr val="4A4030">
              <a:alpha val="28000"/>
            </a:srgbClr>
          </a:solidFill>
          <a:ln w="7620">
            <a:solidFill>
              <a:srgbClr val="4A4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21396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&amp; BROKEN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76072" y="24871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APY — inflation eats your money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6072" y="29443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engagement, nobody opens their bank app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6072" y="34015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Yotta &amp; Synapse showed BaaS infrastructure fails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6072" y="38587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upside. No excitement. No reason to stay.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19272" y="1572768"/>
            <a:ext cx="2651760" cy="331012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19272" y="1572768"/>
            <a:ext cx="50292" cy="33101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70078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59352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Lottery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483864" y="2139696"/>
            <a:ext cx="1417320" cy="219456"/>
          </a:xfrm>
          <a:prstGeom prst="rect">
            <a:avLst/>
          </a:prstGeom>
          <a:solidFill>
            <a:srgbClr val="991B1B">
              <a:alpha val="28000"/>
            </a:srgbClr>
          </a:solidFill>
          <a:ln w="7620">
            <a:solidFill>
              <a:srgbClr val="991B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83864" y="21396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LOSS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3483864" y="24871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$100B/yr spent — 0% returned to players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483864" y="29443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Psychologically engineered addiction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483864" y="34015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 — draws happen in a black box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483864" y="38587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is money you'll never see again.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27064" y="1572768"/>
            <a:ext cx="2651760" cy="331012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27064" y="1572768"/>
            <a:ext cx="50292" cy="3310128"/>
          </a:xfrm>
          <a:prstGeom prst="rect">
            <a:avLst/>
          </a:prstGeom>
          <a:solidFill>
            <a:srgbClr val="8A7020"/>
          </a:solidFill>
          <a:ln w="12700">
            <a:solidFill>
              <a:srgbClr val="8A702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700784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67144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Cards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391656" y="2139696"/>
            <a:ext cx="1417320" cy="219456"/>
          </a:xfrm>
          <a:prstGeom prst="rect">
            <a:avLst/>
          </a:prstGeom>
          <a:solidFill>
            <a:srgbClr val="5A3A00">
              <a:alpha val="28000"/>
            </a:srgbClr>
          </a:solidFill>
          <a:ln w="7620">
            <a:solidFill>
              <a:srgbClr val="5A3A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91656" y="21396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WALLED GARDEN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6391656" y="24871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Black: $5,000/yr just to hold it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6391656" y="29443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locked behind opaque, arbitrary tiers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391656" y="34015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community, no luck, no upside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391656" y="38587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0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profits go to the bank — not you.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solidFill>
            <a:srgbClr val="0C0C10"/>
          </a:solidFill>
          <a:ln w="6350">
            <a:solidFill>
              <a:srgbClr val="221E08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 solves all three simultaneously — for the first time, with no trade-offs.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PHASE 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normally. Win life-changing money. Never lose a dollar.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938528" cy="18288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934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Deposit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" y="243230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 Vault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23160" y="219456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587752" y="1481328"/>
            <a:ext cx="1938528" cy="18288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87752" y="1481328"/>
            <a:ext cx="1938528" cy="38405"/>
          </a:xfrm>
          <a:prstGeom prst="rect">
            <a:avLst/>
          </a:prstGeom>
          <a:solidFill>
            <a:srgbClr val="F0CC5A"/>
          </a:solidFill>
          <a:ln w="12700">
            <a:solidFill>
              <a:srgbClr val="F0CC5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093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Accrues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243230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4-5% APY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99432" y="219456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764024" y="1481328"/>
            <a:ext cx="1938528" cy="18288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64024" y="1481328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60934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73752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Prize Pool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73752" y="243230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60-70% of yield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pot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775704" y="2194560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940296" y="1481328"/>
            <a:ext cx="1938528" cy="18288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40296" y="1481328"/>
            <a:ext cx="1938528" cy="38405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160934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50024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Event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050024" y="243230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on-chain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90 days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11480" y="3493008"/>
            <a:ext cx="2651760" cy="146304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11480" y="3493008"/>
            <a:ext cx="50292" cy="1463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62102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51560" y="3639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Principal Safe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76072" y="402336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FDIC-equivalent protection via USDC + Abstract L2. Your deposit is always yours — withdraw anytime.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319272" y="3493008"/>
            <a:ext cx="2651760" cy="146304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319272" y="3493008"/>
            <a:ext cx="50292" cy="1463040"/>
          </a:xfrm>
          <a:prstGeom prst="rect">
            <a:avLst/>
          </a:prstGeom>
          <a:solidFill>
            <a:srgbClr val="F0CC5A"/>
          </a:solidFill>
          <a:ln w="12700">
            <a:solidFill>
              <a:srgbClr val="F0CC5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64" y="3621024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959352" y="3639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Deeply Social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3483864" y="402336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Syndicates pool entries. Streaks multiply odds up to 3×. Live draw events the whole community watches.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227064" y="3493008"/>
            <a:ext cx="2651760" cy="146304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227064" y="3493008"/>
            <a:ext cx="50292" cy="1463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56" y="3621024"/>
            <a:ext cx="329184" cy="32918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867144" y="3639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Provably Fair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391656" y="402336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generates the winning hash on-chain, live. Anyone can verify the result independently.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· WHY ABSTRACT L2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solved the Yotta problem.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partner risk. No Synapse. Mathematically transparent — and invisible to the user.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931920" cy="1828800"/>
          </a:xfrm>
          <a:prstGeom prst="rect">
            <a:avLst/>
          </a:prstGeom>
          <a:solidFill>
            <a:srgbClr val="100A0A"/>
          </a:solidFill>
          <a:ln w="6350">
            <a:solidFill>
              <a:srgbClr val="991B1B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50292" cy="18288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82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BaaS Graveyard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Financial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 2024 — froze customer funds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Yotta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shutdown — users lost access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PrizePool.com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— no path back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PLSA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 fragile banking middleman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840480" cy="18288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572768"/>
            <a:ext cx="50292" cy="18288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682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L2 — The Right Foundation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 / Email login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account abstraction — no seed phrases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395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gas fees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the user — feels like a normal 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proof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draw verifiable by anyone, forever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b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co-marketing — </a:t>
            </a:r>
            <a:pPr indent="0" marL="0">
              <a:buNone/>
            </a:pPr>
            <a:r>
              <a:rPr lang="en-US" sz="10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line to Abstract founders at launch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5478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Smart Contract Stack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931920"/>
            <a:ext cx="2651760" cy="100584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931920"/>
            <a:ext cx="265176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41648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6012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PotluckVault.sol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4370832"/>
            <a:ext cx="1188720" cy="201168"/>
          </a:xfrm>
          <a:prstGeom prst="rect">
            <a:avLst/>
          </a:prstGeom>
          <a:solidFill>
            <a:srgbClr val="6D28D9">
              <a:alpha val="28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48640" y="46268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USDC deposits. Routes to Aave for yield. Principal always withdrawable.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319272" y="3931920"/>
            <a:ext cx="2651760" cy="100584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19272" y="3931920"/>
            <a:ext cx="265176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4041648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867912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PotluckTickets.sol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456432" y="4370832"/>
            <a:ext cx="1188720" cy="201168"/>
          </a:xfrm>
          <a:prstGeom prst="rect">
            <a:avLst/>
          </a:prstGeom>
          <a:solidFill>
            <a:srgbClr val="6D28D9">
              <a:alpha val="28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56432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Non-transferable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3456432" y="46268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Time-weighted entry tracking. Prevents manipulation. Assigns tickets fairly.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27064" y="3931920"/>
            <a:ext cx="2651760" cy="100584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227064" y="3931920"/>
            <a:ext cx="265176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4041648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75704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PrizePool.sol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364224" y="4370832"/>
            <a:ext cx="1188720" cy="201168"/>
          </a:xfrm>
          <a:prstGeom prst="rect">
            <a:avLst/>
          </a:prstGeom>
          <a:solidFill>
            <a:srgbClr val="6D28D9">
              <a:alpha val="28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364224" y="4370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6364224" y="46268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yield. Runs provably fair draw. Distributes prize on-chain instantly.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giant markets. One product.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competing with any single incumbent. We're eating a piece of all of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51760" cy="175564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2651760" cy="502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Lottery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Americans play the lottery annually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481328"/>
            <a:ext cx="2651760" cy="175564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481328"/>
            <a:ext cx="2651760" cy="502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$1.2T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319272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Savings Market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APY: 0.5% — users are starved for yield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27064" y="1481328"/>
            <a:ext cx="2651760" cy="175564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1481328"/>
            <a:ext cx="265176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6642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$585B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27064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Card Spend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2788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alone processes $200B+ per year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4023360" cy="157276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64992"/>
            <a:ext cx="50292" cy="1572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56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858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1% of lottery spend → $1B+ opportunity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114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ecosystem launch → Day 1 crypto-native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370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crossover → lottery replacement narrative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626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→ Meridian card captures HNW segment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364992"/>
          <a:ext cx="4160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85800"/>
                <a:gridCol w="749808"/>
                <a:gridCol w="804672"/>
                <a:gridCol w="621792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Prize Draw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5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Amex Platinum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5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Yotta (defunct)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5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POTLUCK 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PHASE 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audiences. One product. Different front doors.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 is the engine. The lottery replacement is the hook. Both lead to the same Pot.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023360" cy="331012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50292" cy="3310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00784"/>
            <a:ext cx="1463040" cy="237744"/>
          </a:xfrm>
          <a:prstGeom prst="rect">
            <a:avLst/>
          </a:prstGeom>
          <a:solidFill>
            <a:srgbClr val="6D28D9">
              <a:alpha val="28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CRYPTO-NATIVE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Ecosystem Users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3657600" cy="658368"/>
          </a:xfrm>
          <a:prstGeom prst="rect">
            <a:avLst/>
          </a:prstGeom>
          <a:solidFill>
            <a:srgbClr val="121216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7980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"On-chain prize-linked savings. Chainlink VRF draw. ERC-4626 vault on Abstract L2. Your yield. Your pot. Provably fair."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ecosystem launch (Day 1 co-marketing)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Twitter / Farcaster / Warpcast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grants + ecosystem fund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535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influencer seeding (yield + prizes)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572768"/>
            <a:ext cx="4023360" cy="331012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572768"/>
            <a:ext cx="50292" cy="33101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700784"/>
            <a:ext cx="1463040" cy="237744"/>
          </a:xfrm>
          <a:prstGeom prst="rect">
            <a:avLst/>
          </a:prstGeom>
          <a:solidFill>
            <a:srgbClr val="8A7020">
              <a:alpha val="28000"/>
            </a:srgbClr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Lottery &amp; Fintech Users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706624"/>
            <a:ext cx="3657600" cy="658368"/>
          </a:xfrm>
          <a:prstGeom prst="rect">
            <a:avLst/>
          </a:prstGeom>
          <a:solidFill>
            <a:srgbClr val="121216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27980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playing the lottery. Save your way to a jackpot. Your money stays safe — your interest builds a $2.4M prize pool."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waitlist (live — potluck-kappa.vercel.app)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023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Instagram — draw event clips go viral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targeting lottery &amp; scratch ticket buyers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535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finance creators (lottery replacement angle)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5029200"/>
            <a:ext cx="8321040" cy="292608"/>
          </a:xfrm>
          <a:prstGeom prst="rect">
            <a:avLst/>
          </a:prstGeom>
          <a:solidFill>
            <a:srgbClr val="0C0C10"/>
          </a:solidFill>
          <a:ln w="6350">
            <a:solidFill>
              <a:srgbClr val="221E08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50292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audiences land in the same product. The abstraction layer makes the DeFi invisible to those who don't care.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phases. One clear path.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funds the next. The Pot pays for The Meridian. The Meridian pays for everything.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27432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1508760"/>
            <a:ext cx="146304" cy="14630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02736" y="1508760"/>
            <a:ext cx="146304" cy="146304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79008" y="1508760"/>
            <a:ext cx="146304" cy="146304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508760"/>
            <a:ext cx="146304" cy="146304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37360"/>
            <a:ext cx="1938528" cy="3200400"/>
          </a:xfrm>
          <a:prstGeom prst="rect">
            <a:avLst/>
          </a:prstGeom>
          <a:solidFill>
            <a:srgbClr val="0C0900"/>
          </a:solidFill>
          <a:ln w="6350">
            <a:solidFill>
              <a:srgbClr val="221E08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37360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8470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51560" y="1920240"/>
            <a:ext cx="822960" cy="219456"/>
          </a:xfrm>
          <a:prstGeom prst="rect">
            <a:avLst/>
          </a:prstGeom>
          <a:solidFill>
            <a:srgbClr val="1A1200">
              <a:alpha val="2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920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883664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1208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1208" y="2596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21208" y="28346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Validate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21208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Testnet → Mainnet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21208" y="35112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waitlist → 10K signups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1208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Grand Draw event (streamed)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21208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depositing members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21208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AUM · First $50K prize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4663440"/>
            <a:ext cx="1938528" cy="530352"/>
          </a:xfrm>
          <a:prstGeom prst="rect">
            <a:avLst/>
          </a:prstGeom>
          <a:solidFill>
            <a:srgbClr val="1A1200"/>
          </a:solidFill>
          <a:ln w="6350">
            <a:solidFill>
              <a:srgbClr val="221E08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21208" y="4736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21208" y="48828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 AUM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587752" y="1737360"/>
            <a:ext cx="1938528" cy="32004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697480" y="18470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3227832" y="1920240"/>
            <a:ext cx="822960" cy="219456"/>
          </a:xfrm>
          <a:prstGeom prst="rect">
            <a:avLst/>
          </a:prstGeom>
          <a:solidFill>
            <a:srgbClr val="121216">
              <a:alpha val="28000"/>
            </a:srgbClr>
          </a:solidFill>
          <a:ln w="7620">
            <a:solidFill>
              <a:srgbClr val="8A70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27832" y="1920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883664"/>
            <a:ext cx="310896" cy="31089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697480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BETA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2697480" y="2596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2697480" y="28346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+ Social Layer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2697480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card pilot (500 members)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2697480" y="35112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Syndicates + streak features live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2697480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depositing members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2697480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AUM · $240K prize pools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2697480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waitlist opens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2587752" y="4663440"/>
            <a:ext cx="1938528" cy="530352"/>
          </a:xfrm>
          <a:prstGeom prst="rect">
            <a:avLst/>
          </a:prstGeom>
          <a:solidFill>
            <a:srgbClr val="121216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2697480" y="4736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697480" y="48828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$5M AUM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4764024" y="1737360"/>
            <a:ext cx="1938528" cy="32004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4873752" y="18470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46" name="Shape 42"/>
          <p:cNvSpPr/>
          <p:nvPr/>
        </p:nvSpPr>
        <p:spPr>
          <a:xfrm>
            <a:off x="5404104" y="1920240"/>
            <a:ext cx="822960" cy="219456"/>
          </a:xfrm>
          <a:prstGeom prst="rect">
            <a:avLst/>
          </a:prstGeom>
          <a:solidFill>
            <a:srgbClr val="121216">
              <a:alpha val="28000"/>
            </a:srgbClr>
          </a:solidFill>
          <a:ln w="7620">
            <a:solidFill>
              <a:srgbClr val="5A554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404104" y="1920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7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83664"/>
            <a:ext cx="310896" cy="310896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4873752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PUBLIC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4873752" y="2596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12–18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4873752" y="28346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Premium</a:t>
            </a:r>
            <a:endParaRPr lang="en-US" sz="1150" dirty="0"/>
          </a:p>
        </p:txBody>
      </p:sp>
      <p:sp>
        <p:nvSpPr>
          <p:cNvPr id="52" name="Text 47"/>
          <p:cNvSpPr/>
          <p:nvPr/>
        </p:nvSpPr>
        <p:spPr>
          <a:xfrm>
            <a:off x="4873752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card public launch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4873752" y="35112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dashboard + Plaid integration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4873752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members · $25M AUM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4873752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$1.2M+ annual prize pools</a:t>
            </a:r>
            <a:endParaRPr lang="en-US" sz="950" dirty="0"/>
          </a:p>
        </p:txBody>
      </p:sp>
      <p:sp>
        <p:nvSpPr>
          <p:cNvPr id="56" name="Text 51"/>
          <p:cNvSpPr/>
          <p:nvPr/>
        </p:nvSpPr>
        <p:spPr>
          <a:xfrm>
            <a:off x="4873752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Potluck+ subscription tier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4764024" y="4663440"/>
            <a:ext cx="1938528" cy="530352"/>
          </a:xfrm>
          <a:prstGeom prst="rect">
            <a:avLst/>
          </a:prstGeom>
          <a:solidFill>
            <a:srgbClr val="121216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58" name="Text 53"/>
          <p:cNvSpPr/>
          <p:nvPr/>
        </p:nvSpPr>
        <p:spPr>
          <a:xfrm>
            <a:off x="4873752" y="4736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59" name="Text 54"/>
          <p:cNvSpPr/>
          <p:nvPr/>
        </p:nvSpPr>
        <p:spPr>
          <a:xfrm>
            <a:off x="4873752" y="48828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$25M AUM</a:t>
            </a:r>
            <a:endParaRPr lang="en-US" sz="1400" dirty="0"/>
          </a:p>
        </p:txBody>
      </p:sp>
      <p:sp>
        <p:nvSpPr>
          <p:cNvPr id="60" name="Shape 55"/>
          <p:cNvSpPr/>
          <p:nvPr/>
        </p:nvSpPr>
        <p:spPr>
          <a:xfrm>
            <a:off x="6940296" y="1737360"/>
            <a:ext cx="1938528" cy="320040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61" name="Text 56"/>
          <p:cNvSpPr/>
          <p:nvPr/>
        </p:nvSpPr>
        <p:spPr>
          <a:xfrm>
            <a:off x="7050024" y="18470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62" name="Shape 57"/>
          <p:cNvSpPr/>
          <p:nvPr/>
        </p:nvSpPr>
        <p:spPr>
          <a:xfrm>
            <a:off x="7580376" y="1920240"/>
            <a:ext cx="822960" cy="219456"/>
          </a:xfrm>
          <a:prstGeom prst="rect">
            <a:avLst/>
          </a:prstGeom>
          <a:solidFill>
            <a:srgbClr val="121216">
              <a:alpha val="28000"/>
            </a:srgbClr>
          </a:solidFill>
          <a:ln w="7620">
            <a:solidFill>
              <a:srgbClr val="5A5540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7580376" y="1920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1883664"/>
            <a:ext cx="310896" cy="310896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7050024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66" name="Text 60"/>
          <p:cNvSpPr/>
          <p:nvPr/>
        </p:nvSpPr>
        <p:spPr>
          <a:xfrm>
            <a:off x="7050024" y="2596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950" dirty="0"/>
          </a:p>
        </p:txBody>
      </p:sp>
      <p:sp>
        <p:nvSpPr>
          <p:cNvPr id="67" name="Text 61"/>
          <p:cNvSpPr/>
          <p:nvPr/>
        </p:nvSpPr>
        <p:spPr>
          <a:xfrm>
            <a:off x="7050024" y="28346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Expansion</a:t>
            </a:r>
            <a:endParaRPr lang="en-US" sz="1150" dirty="0"/>
          </a:p>
        </p:txBody>
      </p:sp>
      <p:sp>
        <p:nvSpPr>
          <p:cNvPr id="68" name="Text 62"/>
          <p:cNvSpPr/>
          <p:nvPr/>
        </p:nvSpPr>
        <p:spPr>
          <a:xfrm>
            <a:off x="7050024" y="3218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&amp; LATAM markets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7050024" y="35112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prize pools</a:t>
            </a:r>
            <a:endParaRPr lang="en-US" sz="950" dirty="0"/>
          </a:p>
        </p:txBody>
      </p:sp>
      <p:sp>
        <p:nvSpPr>
          <p:cNvPr id="70" name="Text 64"/>
          <p:cNvSpPr/>
          <p:nvPr/>
        </p:nvSpPr>
        <p:spPr>
          <a:xfrm>
            <a:off x="7050024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250,000+ members</a:t>
            </a:r>
            <a:endParaRPr lang="en-US" sz="950" dirty="0"/>
          </a:p>
        </p:txBody>
      </p:sp>
      <p:sp>
        <p:nvSpPr>
          <p:cNvPr id="71" name="Text 65"/>
          <p:cNvSpPr/>
          <p:nvPr/>
        </p:nvSpPr>
        <p:spPr>
          <a:xfrm>
            <a:off x="7050024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$150M+ AUM</a:t>
            </a:r>
            <a:endParaRPr lang="en-US" sz="950" dirty="0"/>
          </a:p>
        </p:txBody>
      </p:sp>
      <p:sp>
        <p:nvSpPr>
          <p:cNvPr id="72" name="Text 66"/>
          <p:cNvSpPr/>
          <p:nvPr/>
        </p:nvSpPr>
        <p:spPr>
          <a:xfrm>
            <a:off x="7050024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banking partnerships</a:t>
            </a:r>
            <a:endParaRPr lang="en-US" sz="950" dirty="0"/>
          </a:p>
        </p:txBody>
      </p:sp>
      <p:sp>
        <p:nvSpPr>
          <p:cNvPr id="73" name="Shape 67"/>
          <p:cNvSpPr/>
          <p:nvPr/>
        </p:nvSpPr>
        <p:spPr>
          <a:xfrm>
            <a:off x="6940296" y="4663440"/>
            <a:ext cx="1938528" cy="530352"/>
          </a:xfrm>
          <a:prstGeom prst="rect">
            <a:avLst/>
          </a:prstGeom>
          <a:solidFill>
            <a:srgbClr val="121216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74" name="Text 68"/>
          <p:cNvSpPr/>
          <p:nvPr/>
        </p:nvSpPr>
        <p:spPr>
          <a:xfrm>
            <a:off x="7050024" y="4736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75" name="Text 69"/>
          <p:cNvSpPr/>
          <p:nvPr/>
        </p:nvSpPr>
        <p:spPr>
          <a:xfrm>
            <a:off x="7050024" y="48828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$150M AUM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TRACTION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grows with every deposit.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938528" cy="1719072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8988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42646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Spread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1208" y="2121408"/>
            <a:ext cx="1097280" cy="201168"/>
          </a:xfrm>
          <a:prstGeom prst="rect">
            <a:avLst/>
          </a:prstGeom>
          <a:solidFill>
            <a:srgbClr val="D4AF37">
              <a:alpha val="24000"/>
            </a:srgbClr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21208" y="23957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all DeFi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on deposits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87752" y="1298448"/>
            <a:ext cx="1938528" cy="1719072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87752" y="1298448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97480" y="138988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26464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Interchange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2697480" y="2121408"/>
            <a:ext cx="1097280" cy="201168"/>
          </a:xfrm>
          <a:prstGeom prst="rect">
            <a:avLst/>
          </a:prstGeom>
          <a:solidFill>
            <a:srgbClr val="8A7020">
              <a:alpha val="24000"/>
            </a:srgbClr>
          </a:solidFill>
          <a:ln w="7620">
            <a:solidFill>
              <a:srgbClr val="8A70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9748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A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2697480" y="23957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1.5–3% on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swipe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64024" y="1298448"/>
            <a:ext cx="1938528" cy="1719072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64024" y="1298448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73752" y="138988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426464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73752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Meridian+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873752" y="2121408"/>
            <a:ext cx="1097280" cy="201168"/>
          </a:xfrm>
          <a:prstGeom prst="rect">
            <a:avLst/>
          </a:prstGeom>
          <a:solidFill>
            <a:srgbClr val="A78BFA">
              <a:alpha val="24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73752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4873752" y="23957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 premium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subscription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40296" y="1298448"/>
            <a:ext cx="1938528" cy="1719072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40296" y="1298448"/>
            <a:ext cx="1938528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050024" y="1389888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426464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50024" y="1810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Sponsored Draws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050024" y="2121408"/>
            <a:ext cx="1097280" cy="201168"/>
          </a:xfrm>
          <a:prstGeom prst="rect">
            <a:avLst/>
          </a:prstGeom>
          <a:solidFill>
            <a:srgbClr val="5A5540">
              <a:alpha val="24000"/>
            </a:srgbClr>
          </a:solidFill>
          <a:ln w="7620">
            <a:solidFill>
              <a:srgbClr val="5A554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050024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7050024" y="23957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Brand-funded prize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at scale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02920" y="31638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Unit Economics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29584"/>
          <a:ext cx="6263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417320"/>
                <a:gridCol w="1417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8C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8C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Deposit (USDC)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8C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8C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 Yield (5%)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8C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Potluck Rev (35%)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C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8C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Rev (est.)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C1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900"/>
                    </a:solidFill>
                  </a:tcPr>
                </a:tc>
              </a:tr>
            </a:tbl>
          </a:graphicData>
        </a:graphic>
      </p:graphicFrame>
      <p:sp>
        <p:nvSpPr>
          <p:cNvPr id="39" name="Shape 32"/>
          <p:cNvSpPr/>
          <p:nvPr/>
        </p:nvSpPr>
        <p:spPr>
          <a:xfrm>
            <a:off x="6812280" y="3163824"/>
            <a:ext cx="1920240" cy="2596896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812280" y="3163824"/>
            <a:ext cx="50292" cy="2596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995160" y="32735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69951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7662672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passed unit tests ✓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6995160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7662672" y="4005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 ✓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995160" y="43525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7662672" y="43525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app built ✓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6995160" y="4700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7662672" y="4700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broadcast ready ✓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6995160" y="5047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7662672" y="5047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collecting ✓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6995160" y="5394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7662672" y="5394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relationship 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4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D4AF37">
              <a:alpha val="6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64008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1206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$3.5M Seed Round.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written. UI is live. Testnet is next. Capital goes straight to launch.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651760" cy="1572768"/>
          </a:xfrm>
          <a:prstGeom prst="rect">
            <a:avLst/>
          </a:prstGeom>
          <a:solidFill>
            <a:srgbClr val="0C0900"/>
          </a:solidFill>
          <a:ln w="6350">
            <a:solidFill>
              <a:srgbClr val="221E08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2651760" cy="38405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824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$3.5M Seed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572768"/>
            <a:ext cx="2468880" cy="157276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72768"/>
            <a:ext cx="50292" cy="15727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0482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084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deploy + audits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304288"/>
            <a:ext cx="2148840" cy="18288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22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2359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card +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578608"/>
            <a:ext cx="2148840" cy="18288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5968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26334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+ co-marketing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852928"/>
            <a:ext cx="2148840" cy="18288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77640" y="2907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compliance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1572768"/>
            <a:ext cx="2834640" cy="1572768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1572768"/>
            <a:ext cx="50292" cy="1572768"/>
          </a:xfrm>
          <a:prstGeom prst="rect">
            <a:avLst/>
          </a:prstGeom>
          <a:solidFill>
            <a:srgbClr val="F0CC5A"/>
          </a:solidFill>
          <a:ln w="12700">
            <a:solidFill>
              <a:srgbClr val="F0C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Milestones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Mainnet launch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depositing members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card pilot (500)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852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AUM · $240K prize pool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8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$115K projected revenue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310128"/>
            <a:ext cx="8321040" cy="1554480"/>
          </a:xfrm>
          <a:prstGeom prst="rect">
            <a:avLst/>
          </a:prstGeom>
          <a:solidFill>
            <a:srgbClr val="0C0C10"/>
          </a:solidFill>
          <a:ln w="6350">
            <a:solidFill>
              <a:srgbClr val="1C1C22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310128"/>
            <a:ext cx="50292" cy="1554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41985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" y="37673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78408" y="3803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BaaS collapse cleared the field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78408" y="405993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Synapse/Yotta are gone. We're the only provably-safe PLSA standing.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79192" y="37673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063240" y="3803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L2 launching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063240" y="405993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positioned as the flagship consumer app of the entire ecosystem — Day 1.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64024" y="37673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148072" y="3803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card market +12% YoY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48072" y="405993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DeFi-native card competitor exists. The Meridian has no direct comp.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48856" y="37673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232904" y="3803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is built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32904" y="4059936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audited. UI live. Draw broadcast ready. Capital goes to users — not dev.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4919472"/>
            <a:ext cx="8321040" cy="27432"/>
          </a:xfrm>
          <a:prstGeom prst="rect">
            <a:avLst/>
          </a:prstGeom>
          <a:solidFill>
            <a:srgbClr val="5A5540"/>
          </a:solidFill>
          <a:ln w="12700">
            <a:solidFill>
              <a:srgbClr val="5A5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9743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potluck.app  ·  hello@potluck.app  ·  potluck-kappa.vercel.app  ·  @potluckapp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Potluck — Investor Deck v3</dc:title>
  <dc:subject>PptxGenJS Presentation</dc:subject>
  <dc:creator>PptxGenJS</dc:creator>
  <cp:lastModifiedBy>PptxGenJS</cp:lastModifiedBy>
  <cp:revision>1</cp:revision>
  <dcterms:created xsi:type="dcterms:W3CDTF">2026-03-05T00:02:43Z</dcterms:created>
  <dcterms:modified xsi:type="dcterms:W3CDTF">2026-03-05T00:02:43Z</dcterms:modified>
</cp:coreProperties>
</file>