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3658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 ·  70 YEARS OF PROOF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377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concept has already won.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11155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Britain. Since 1956. At £122 billion.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1664208"/>
            <a:ext cx="3931920" cy="3218688"/>
          </a:xfrm>
          <a:prstGeom prst="rect">
            <a:avLst/>
          </a:prstGeom>
          <a:solidFill>
            <a:srgbClr val="08080C"/>
          </a:solidFill>
          <a:ln w="6350">
            <a:solidFill>
              <a:srgbClr val="1A1A2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664208"/>
            <a:ext cx="3931920" cy="41148"/>
          </a:xfrm>
          <a:prstGeom prst="rect">
            <a:avLst/>
          </a:prstGeom>
          <a:solidFill>
            <a:srgbClr val="003078"/>
          </a:solidFill>
          <a:ln w="12700">
            <a:solidFill>
              <a:srgbClr val="0030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1792224"/>
            <a:ext cx="475488" cy="292608"/>
          </a:xfrm>
          <a:prstGeom prst="rect">
            <a:avLst/>
          </a:prstGeom>
          <a:solidFill>
            <a:srgbClr val="0030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920240"/>
            <a:ext cx="475488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" y="1792224"/>
            <a:ext cx="502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1933956"/>
            <a:ext cx="475488" cy="2560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" y="1792224"/>
            <a:ext cx="25603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1792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NS&amp;I Premium Bonds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5568" y="2103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· Est. 1956 · HM Treasury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" y="2468880"/>
            <a:ext cx="841248" cy="658368"/>
          </a:xfrm>
          <a:prstGeom prst="rect">
            <a:avLst/>
          </a:prstGeom>
          <a:solidFill>
            <a:srgbClr val="0C0C16"/>
          </a:solidFill>
          <a:ln w="6350">
            <a:solidFill>
              <a:srgbClr val="1A1A2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" y="252374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£122B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" y="28346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outstanding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499616" y="2468880"/>
            <a:ext cx="841248" cy="658368"/>
          </a:xfrm>
          <a:prstGeom prst="rect">
            <a:avLst/>
          </a:prstGeom>
          <a:solidFill>
            <a:srgbClr val="0C0C16"/>
          </a:solidFill>
          <a:ln w="6350">
            <a:solidFill>
              <a:srgbClr val="1A1A2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99616" y="252374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99616" y="28346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holders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68880" y="2468880"/>
            <a:ext cx="841248" cy="658368"/>
          </a:xfrm>
          <a:prstGeom prst="rect">
            <a:avLst/>
          </a:prstGeom>
          <a:solidFill>
            <a:srgbClr val="0C0C16"/>
          </a:solidFill>
          <a:ln w="6350">
            <a:solidFill>
              <a:srgbClr val="1A1A2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68880" y="252374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468880" y="28346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adults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38144" y="2468880"/>
            <a:ext cx="841248" cy="658368"/>
          </a:xfrm>
          <a:prstGeom prst="rect">
            <a:avLst/>
          </a:prstGeom>
          <a:solidFill>
            <a:srgbClr val="0C0C16"/>
          </a:solidFill>
          <a:ln w="6350">
            <a:solidFill>
              <a:srgbClr val="1A1A2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38144" y="252374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 yrs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38144" y="28346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operation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30352" y="3255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money → principal 100% guaranteed by HM Treasury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0352" y="3712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no interest — instead, receive monthly prize draw entries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ERNIE (hardware RNG) picks winners — £25 to £1,000,000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full principal at any time, no penalty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0352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gov't has ruled for 70 years: NOT gambling, NOT a lottery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70832" y="29260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4334256" y="340156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334256" y="36027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846320" y="1664208"/>
            <a:ext cx="3931920" cy="3218688"/>
          </a:xfrm>
          <a:prstGeom prst="rect">
            <a:avLst/>
          </a:prstGeom>
          <a:solidFill>
            <a:srgbClr val="0C0900"/>
          </a:solidFill>
          <a:ln w="6350">
            <a:solidFill>
              <a:srgbClr val="2A201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1664208"/>
            <a:ext cx="393192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1792224"/>
            <a:ext cx="347472" cy="34747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5468112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Potluck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5468112" y="21031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· Abstract L2 · 2026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010912" y="2468880"/>
            <a:ext cx="841248" cy="658368"/>
          </a:xfrm>
          <a:prstGeom prst="rect">
            <a:avLst/>
          </a:prstGeom>
          <a:solidFill>
            <a:srgbClr val="120F00"/>
          </a:solidFill>
          <a:ln w="6350">
            <a:solidFill>
              <a:srgbClr val="2A201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5010912" y="252374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$100B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5010912" y="28346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market TAM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5980176" y="2468880"/>
            <a:ext cx="841248" cy="658368"/>
          </a:xfrm>
          <a:prstGeom prst="rect">
            <a:avLst/>
          </a:prstGeom>
          <a:solidFill>
            <a:srgbClr val="120F00"/>
          </a:solidFill>
          <a:ln w="6350">
            <a:solidFill>
              <a:srgbClr val="2A201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5980176" y="252374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5980176" y="28346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equivalents exist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6949440" y="2468880"/>
            <a:ext cx="841248" cy="658368"/>
          </a:xfrm>
          <a:prstGeom prst="rect">
            <a:avLst/>
          </a:prstGeom>
          <a:solidFill>
            <a:srgbClr val="120F00"/>
          </a:solidFill>
          <a:ln w="6350">
            <a:solidFill>
              <a:srgbClr val="2A201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6949440" y="252374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89K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6949440" y="28346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members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7918704" y="2468880"/>
            <a:ext cx="841248" cy="658368"/>
          </a:xfrm>
          <a:prstGeom prst="rect">
            <a:avLst/>
          </a:prstGeom>
          <a:solidFill>
            <a:srgbClr val="120F00"/>
          </a:solidFill>
          <a:ln w="6350">
            <a:solidFill>
              <a:srgbClr val="2A201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7918704" y="252374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7918704" y="28346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draw cycle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5010912" y="3255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DIFFERENTLY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5010912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On-chain, non-custodial — no bank partner can fail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5010912" y="3712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draw — cryptographically verifiable by anyone</a:t>
            </a:r>
            <a:endParaRPr lang="en-US" sz="950" dirty="0"/>
          </a:p>
        </p:txBody>
      </p:sp>
      <p:sp>
        <p:nvSpPr>
          <p:cNvPr id="66" name="Text 63"/>
          <p:cNvSpPr/>
          <p:nvPr/>
        </p:nvSpPr>
        <p:spPr>
          <a:xfrm>
            <a:off x="5010912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yield (Aave) — transparent rate, not government rate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5010912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Grand Draw + monthly mini draws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5010912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Syndicates, streaks, social layer — Premium Bonds have none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365760" y="4736592"/>
            <a:ext cx="8412480" cy="749808"/>
          </a:xfrm>
          <a:prstGeom prst="rect">
            <a:avLst/>
          </a:prstGeom>
          <a:solidFill>
            <a:srgbClr val="08080A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365760" y="4736592"/>
            <a:ext cx="50292" cy="7498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66928" y="47914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concept has 70 years of proven demand and 1 in 3 British adults as proof. Americans have never had access to anything like it.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566928" y="51023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the on-chain version — open to everyone.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6217920" y="48097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NS&amp;I ruled NOT gambling · 70 consecutive years · strongest int'l precedent for PLSA legality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2026-03-05T22:01:06Z</dcterms:created>
  <dcterms:modified xsi:type="dcterms:W3CDTF">2026-03-05T22:01:06Z</dcterms:modified>
</cp:coreProperties>
</file>